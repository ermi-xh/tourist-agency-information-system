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43" autoAdjust="0"/>
    <p:restoredTop sz="94660"/>
  </p:normalViewPr>
  <p:slideViewPr>
    <p:cSldViewPr snapToGrid="0">
      <p:cViewPr varScale="1">
        <p:scale>
          <a:sx n="160" d="100"/>
          <a:sy n="160" d="100"/>
        </p:scale>
        <p:origin x="1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00FC1439-5AC7-4BF7-A831-FCF11C93DD41}"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58B481-574B-43D1-A90A-EF6638C80BA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957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FC1439-5AC7-4BF7-A831-FCF11C93DD41}"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58B481-574B-43D1-A90A-EF6638C80BA5}" type="slidenum">
              <a:rPr lang="en-US" smtClean="0"/>
              <a:t>‹#›</a:t>
            </a:fld>
            <a:endParaRPr lang="en-US"/>
          </a:p>
        </p:txBody>
      </p:sp>
    </p:spTree>
    <p:extLst>
      <p:ext uri="{BB962C8B-B14F-4D97-AF65-F5344CB8AC3E}">
        <p14:creationId xmlns:p14="http://schemas.microsoft.com/office/powerpoint/2010/main" val="2477819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FC1439-5AC7-4BF7-A831-FCF11C93DD41}"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58B481-574B-43D1-A90A-EF6638C80BA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716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FC1439-5AC7-4BF7-A831-FCF11C93DD41}" type="datetimeFigureOut">
              <a:rPr lang="en-US" smtClean="0"/>
              <a:t>3/11/26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58B481-574B-43D1-A90A-EF6638C80BA5}" type="slidenum">
              <a:rPr lang="en-US" smtClean="0"/>
              <a:t>‹#›</a:t>
            </a:fld>
            <a:endParaRPr lang="en-US"/>
          </a:p>
        </p:txBody>
      </p:sp>
    </p:spTree>
    <p:extLst>
      <p:ext uri="{BB962C8B-B14F-4D97-AF65-F5344CB8AC3E}">
        <p14:creationId xmlns:p14="http://schemas.microsoft.com/office/powerpoint/2010/main" val="3997756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FC1439-5AC7-4BF7-A831-FCF11C93DD41}" type="datetimeFigureOut">
              <a:rPr lang="en-US" smtClean="0"/>
              <a:t>3/11/26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58B481-574B-43D1-A90A-EF6638C80BA5}" type="slidenum">
              <a:rPr lang="en-US" smtClean="0"/>
              <a:t>‹#›</a:t>
            </a:fld>
            <a:endParaRPr lang="en-US"/>
          </a:p>
        </p:txBody>
      </p:sp>
    </p:spTree>
    <p:extLst>
      <p:ext uri="{BB962C8B-B14F-4D97-AF65-F5344CB8AC3E}">
        <p14:creationId xmlns:p14="http://schemas.microsoft.com/office/powerpoint/2010/main" val="1538602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FC1439-5AC7-4BF7-A831-FCF11C93DD41}" type="datetimeFigureOut">
              <a:rPr lang="en-US" smtClean="0"/>
              <a:t>3/11/26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58B481-574B-43D1-A90A-EF6638C80BA5}" type="slidenum">
              <a:rPr lang="en-US" smtClean="0"/>
              <a:t>‹#›</a:t>
            </a:fld>
            <a:endParaRPr lang="en-US"/>
          </a:p>
        </p:txBody>
      </p:sp>
    </p:spTree>
    <p:extLst>
      <p:ext uri="{BB962C8B-B14F-4D97-AF65-F5344CB8AC3E}">
        <p14:creationId xmlns:p14="http://schemas.microsoft.com/office/powerpoint/2010/main" val="2078520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FC1439-5AC7-4BF7-A831-FCF11C93DD41}" type="datetimeFigureOut">
              <a:rPr lang="en-US" smtClean="0"/>
              <a:t>3/11/26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58B481-574B-43D1-A90A-EF6638C80BA5}" type="slidenum">
              <a:rPr lang="en-US" smtClean="0"/>
              <a:t>‹#›</a:t>
            </a:fld>
            <a:endParaRPr lang="en-US"/>
          </a:p>
        </p:txBody>
      </p:sp>
    </p:spTree>
    <p:extLst>
      <p:ext uri="{BB962C8B-B14F-4D97-AF65-F5344CB8AC3E}">
        <p14:creationId xmlns:p14="http://schemas.microsoft.com/office/powerpoint/2010/main" val="1573043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FC1439-5AC7-4BF7-A831-FCF11C93DD41}" type="datetimeFigureOut">
              <a:rPr lang="en-US" smtClean="0"/>
              <a:t>3/11/26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58B481-574B-43D1-A90A-EF6638C80BA5}" type="slidenum">
              <a:rPr lang="en-US" smtClean="0"/>
              <a:t>‹#›</a:t>
            </a:fld>
            <a:endParaRPr lang="en-US"/>
          </a:p>
        </p:txBody>
      </p:sp>
    </p:spTree>
    <p:extLst>
      <p:ext uri="{BB962C8B-B14F-4D97-AF65-F5344CB8AC3E}">
        <p14:creationId xmlns:p14="http://schemas.microsoft.com/office/powerpoint/2010/main" val="569499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FC1439-5AC7-4BF7-A831-FCF11C93DD41}" type="datetimeFigureOut">
              <a:rPr lang="en-US" smtClean="0"/>
              <a:t>3/11/26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58B481-574B-43D1-A90A-EF6638C80BA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052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FC1439-5AC7-4BF7-A831-FCF11C93DD41}"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58B481-574B-43D1-A90A-EF6638C80BA5}" type="slidenum">
              <a:rPr lang="en-US" smtClean="0"/>
              <a:t>‹#›</a:t>
            </a:fld>
            <a:endParaRPr lang="en-US"/>
          </a:p>
        </p:txBody>
      </p:sp>
    </p:spTree>
    <p:extLst>
      <p:ext uri="{BB962C8B-B14F-4D97-AF65-F5344CB8AC3E}">
        <p14:creationId xmlns:p14="http://schemas.microsoft.com/office/powerpoint/2010/main" val="222039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FC1439-5AC7-4BF7-A831-FCF11C93DD41}" type="datetimeFigureOut">
              <a:rPr lang="en-US" smtClean="0"/>
              <a:t>3/11/26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58B481-574B-43D1-A90A-EF6638C80BA5}"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893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0FC1439-5AC7-4BF7-A831-FCF11C93DD41}" type="datetimeFigureOut">
              <a:rPr lang="en-US" smtClean="0"/>
              <a:t>3/11/26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158B481-574B-43D1-A90A-EF6638C80BA5}"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2717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4BC86-272C-3177-3AD1-3A8AD62C561D}"/>
              </a:ext>
            </a:extLst>
          </p:cNvPr>
          <p:cNvSpPr>
            <a:spLocks noGrp="1"/>
          </p:cNvSpPr>
          <p:nvPr>
            <p:ph type="ctrTitle"/>
          </p:nvPr>
        </p:nvSpPr>
        <p:spPr/>
        <p:txBody>
          <a:bodyPr/>
          <a:lstStyle/>
          <a:p>
            <a:r>
              <a:rPr lang="en-US" dirty="0"/>
              <a:t>Tourist Agency Information System</a:t>
            </a:r>
          </a:p>
        </p:txBody>
      </p:sp>
      <p:sp>
        <p:nvSpPr>
          <p:cNvPr id="3" name="Subtitle 2">
            <a:extLst>
              <a:ext uri="{FF2B5EF4-FFF2-40B4-BE49-F238E27FC236}">
                <a16:creationId xmlns:a16="http://schemas.microsoft.com/office/drawing/2014/main" id="{37646244-2C4A-0B70-430A-999F60A839F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4625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FFCD0-8DD7-FA6E-F731-D346F159DDDE}"/>
              </a:ext>
            </a:extLst>
          </p:cNvPr>
          <p:cNvSpPr>
            <a:spLocks noGrp="1"/>
          </p:cNvSpPr>
          <p:nvPr>
            <p:ph type="title"/>
          </p:nvPr>
        </p:nvSpPr>
        <p:spPr/>
        <p:txBody>
          <a:bodyPr/>
          <a:lstStyle/>
          <a:p>
            <a:r>
              <a:rPr lang="en-US" dirty="0"/>
              <a:t>Project Description</a:t>
            </a:r>
          </a:p>
        </p:txBody>
      </p:sp>
      <p:sp>
        <p:nvSpPr>
          <p:cNvPr id="3" name="Content Placeholder 2">
            <a:extLst>
              <a:ext uri="{FF2B5EF4-FFF2-40B4-BE49-F238E27FC236}">
                <a16:creationId xmlns:a16="http://schemas.microsoft.com/office/drawing/2014/main" id="{CA539820-BF26-B52B-892F-94965BBC4F15}"/>
              </a:ext>
            </a:extLst>
          </p:cNvPr>
          <p:cNvSpPr>
            <a:spLocks noGrp="1"/>
          </p:cNvSpPr>
          <p:nvPr>
            <p:ph idx="1"/>
          </p:nvPr>
        </p:nvSpPr>
        <p:spPr/>
        <p:txBody>
          <a:bodyPr/>
          <a:lstStyle/>
          <a:p>
            <a:r>
              <a:rPr lang="en-US" dirty="0"/>
              <a:t>The goal is to move a traditional travel agency into a fully digital workflow.</a:t>
            </a:r>
          </a:p>
          <a:p>
            <a:pPr>
              <a:buFont typeface="Arial" panose="020B0604020202020204" pitchFamily="34" charset="0"/>
              <a:buChar char="•"/>
            </a:pPr>
            <a:r>
              <a:rPr lang="en-US" b="1" dirty="0"/>
              <a:t>The "Why":</a:t>
            </a:r>
            <a:r>
              <a:rPr lang="en-US" dirty="0"/>
              <a:t> Most small agencies struggle with overbooking or losing track of customer preferences.</a:t>
            </a:r>
          </a:p>
          <a:p>
            <a:pPr>
              <a:buFont typeface="Arial" panose="020B0604020202020204" pitchFamily="34" charset="0"/>
              <a:buChar char="•"/>
            </a:pPr>
            <a:r>
              <a:rPr lang="en-US" b="1" dirty="0"/>
              <a:t>The "How":</a:t>
            </a:r>
            <a:r>
              <a:rPr lang="en-US" dirty="0"/>
              <a:t> This system acts as a "Single Source of Truth." If a customer books the last seat on a bus to the Alps, the system updates the database instantly so the agent doesn't accidentally sell it to someone else five minutes later.</a:t>
            </a:r>
          </a:p>
        </p:txBody>
      </p:sp>
    </p:spTree>
    <p:extLst>
      <p:ext uri="{BB962C8B-B14F-4D97-AF65-F5344CB8AC3E}">
        <p14:creationId xmlns:p14="http://schemas.microsoft.com/office/powerpoint/2010/main" val="2673243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EC13C-FBC4-BE92-E671-E2EFD003A5D4}"/>
              </a:ext>
            </a:extLst>
          </p:cNvPr>
          <p:cNvSpPr>
            <a:spLocks noGrp="1"/>
          </p:cNvSpPr>
          <p:nvPr>
            <p:ph type="title"/>
          </p:nvPr>
        </p:nvSpPr>
        <p:spPr/>
        <p:txBody>
          <a:bodyPr/>
          <a:lstStyle/>
          <a:p>
            <a:r>
              <a:rPr lang="en-US" dirty="0"/>
              <a:t>Aim of the System</a:t>
            </a:r>
          </a:p>
        </p:txBody>
      </p:sp>
      <p:sp>
        <p:nvSpPr>
          <p:cNvPr id="8" name="Content Placeholder 7">
            <a:extLst>
              <a:ext uri="{FF2B5EF4-FFF2-40B4-BE49-F238E27FC236}">
                <a16:creationId xmlns:a16="http://schemas.microsoft.com/office/drawing/2014/main" id="{07EB098D-8522-3032-EF84-7091AD5BEB41}"/>
              </a:ext>
            </a:extLst>
          </p:cNvPr>
          <p:cNvSpPr>
            <a:spLocks noGrp="1"/>
          </p:cNvSpPr>
          <p:nvPr>
            <p:ph idx="1"/>
          </p:nvPr>
        </p:nvSpPr>
        <p:spPr/>
        <p:txBody>
          <a:bodyPr/>
          <a:lstStyle/>
          <a:p>
            <a:pPr>
              <a:buFont typeface="Arial" panose="020B0604020202020204" pitchFamily="34" charset="0"/>
              <a:buChar char="•"/>
            </a:pPr>
            <a:r>
              <a:rPr lang="en-US" b="1" dirty="0"/>
              <a:t>Simplify Booking:</a:t>
            </a:r>
            <a:r>
              <a:rPr lang="en-US" dirty="0"/>
              <a:t> Make it as easy as "Search, Click, Pay, Pack."</a:t>
            </a:r>
          </a:p>
          <a:p>
            <a:pPr>
              <a:buFont typeface="Arial" panose="020B0604020202020204" pitchFamily="34" charset="0"/>
              <a:buChar char="•"/>
            </a:pPr>
            <a:r>
              <a:rPr lang="en-US" b="1" dirty="0"/>
              <a:t>Automate Paperwork:</a:t>
            </a:r>
            <a:r>
              <a:rPr lang="en-US" dirty="0"/>
              <a:t> No more manual invoices. The system should auto-generate PDFs for tickets and receipts.</a:t>
            </a:r>
          </a:p>
          <a:p>
            <a:pPr>
              <a:buFont typeface="Arial" panose="020B0604020202020204" pitchFamily="34" charset="0"/>
              <a:buChar char="•"/>
            </a:pPr>
            <a:r>
              <a:rPr lang="en-US" b="1" dirty="0"/>
              <a:t>Manage Inventory:</a:t>
            </a:r>
            <a:r>
              <a:rPr lang="en-US" dirty="0"/>
              <a:t> Keep a real-time count of available hotel rooms, flight seats, and tour slots.</a:t>
            </a:r>
          </a:p>
          <a:p>
            <a:pPr>
              <a:buFont typeface="Arial" panose="020B0604020202020204" pitchFamily="34" charset="0"/>
              <a:buChar char="•"/>
            </a:pPr>
            <a:r>
              <a:rPr lang="en-US" b="1" dirty="0"/>
              <a:t>Keep Data Safe:</a:t>
            </a:r>
            <a:r>
              <a:rPr lang="en-US" dirty="0"/>
              <a:t> Centralize customer info so agents can see a traveler's history and offer better, personalized recommendations.</a:t>
            </a:r>
          </a:p>
          <a:p>
            <a:endParaRPr lang="en-US" dirty="0"/>
          </a:p>
        </p:txBody>
      </p:sp>
    </p:spTree>
    <p:extLst>
      <p:ext uri="{BB962C8B-B14F-4D97-AF65-F5344CB8AC3E}">
        <p14:creationId xmlns:p14="http://schemas.microsoft.com/office/powerpoint/2010/main" val="4017913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A2169-529A-C2BB-9CD0-2A7973F1365D}"/>
              </a:ext>
            </a:extLst>
          </p:cNvPr>
          <p:cNvSpPr>
            <a:spLocks noGrp="1"/>
          </p:cNvSpPr>
          <p:nvPr>
            <p:ph type="title"/>
          </p:nvPr>
        </p:nvSpPr>
        <p:spPr/>
        <p:txBody>
          <a:bodyPr/>
          <a:lstStyle/>
          <a:p>
            <a:r>
              <a:rPr lang="en-US" dirty="0"/>
              <a:t>User Levels</a:t>
            </a:r>
          </a:p>
        </p:txBody>
      </p:sp>
      <p:sp>
        <p:nvSpPr>
          <p:cNvPr id="7" name="Content Placeholder 6">
            <a:extLst>
              <a:ext uri="{FF2B5EF4-FFF2-40B4-BE49-F238E27FC236}">
                <a16:creationId xmlns:a16="http://schemas.microsoft.com/office/drawing/2014/main" id="{52A76CDD-84B9-F406-641D-A6406F54D36E}"/>
              </a:ext>
            </a:extLst>
          </p:cNvPr>
          <p:cNvSpPr>
            <a:spLocks noGrp="1"/>
          </p:cNvSpPr>
          <p:nvPr>
            <p:ph idx="1"/>
          </p:nvPr>
        </p:nvSpPr>
        <p:spPr>
          <a:xfrm>
            <a:off x="1235963" y="1844703"/>
            <a:ext cx="9296402" cy="3657600"/>
          </a:xfrm>
        </p:spPr>
        <p:txBody>
          <a:bodyPr>
            <a:normAutofit fontScale="77500" lnSpcReduction="20000"/>
          </a:bodyPr>
          <a:lstStyle/>
          <a:p>
            <a:pPr>
              <a:buFont typeface="Arial" panose="020B0604020202020204" pitchFamily="34" charset="0"/>
              <a:buChar char="•"/>
            </a:pPr>
            <a:r>
              <a:rPr lang="en-US" b="1" dirty="0"/>
              <a:t>The Customer:</a:t>
            </a:r>
            <a:r>
              <a:rPr lang="en-US" dirty="0"/>
              <a:t> Can browse trips, check prices, book a vacation, and view their own booking history.</a:t>
            </a:r>
          </a:p>
          <a:p>
            <a:r>
              <a:rPr lang="en-US" b="1"/>
              <a:t>The </a:t>
            </a:r>
            <a:r>
              <a:rPr lang="en-US" b="1" dirty="0"/>
              <a:t>Agent (Staff):</a:t>
            </a:r>
            <a:r>
              <a:rPr lang="en-US" dirty="0"/>
              <a:t> These are the power users. They can create new tour packages, update prices, and help customers with cancellations or changes. There are different types of agents within the system. There are different types of agents within the system.</a:t>
            </a:r>
          </a:p>
          <a:p>
            <a:r>
              <a:rPr lang="en-US" b="1" dirty="0"/>
              <a:t>Booking </a:t>
            </a:r>
            <a:r>
              <a:rPr lang="en-US" b="1" dirty="0" err="1"/>
              <a:t>Agent:</a:t>
            </a:r>
            <a:r>
              <a:rPr lang="en-US" dirty="0" err="1"/>
              <a:t>Creates</a:t>
            </a:r>
            <a:r>
              <a:rPr lang="en-US" dirty="0"/>
              <a:t> bookings for </a:t>
            </a:r>
            <a:r>
              <a:rPr lang="en-US" dirty="0" err="1"/>
              <a:t>customers.Updates</a:t>
            </a:r>
            <a:r>
              <a:rPr lang="en-US" dirty="0"/>
              <a:t> or cancels </a:t>
            </a:r>
            <a:r>
              <a:rPr lang="en-US" dirty="0" err="1"/>
              <a:t>reservations.Checks</a:t>
            </a:r>
            <a:r>
              <a:rPr lang="en-US" dirty="0"/>
              <a:t> availability of tours and </a:t>
            </a:r>
            <a:r>
              <a:rPr lang="en-US" dirty="0" err="1"/>
              <a:t>services.Assists</a:t>
            </a:r>
            <a:r>
              <a:rPr lang="en-US" dirty="0"/>
              <a:t> customers with travel information.</a:t>
            </a:r>
          </a:p>
          <a:p>
            <a:r>
              <a:rPr lang="en-US" b="1" dirty="0"/>
              <a:t>Finance </a:t>
            </a:r>
            <a:r>
              <a:rPr lang="en-US" b="1" dirty="0" err="1"/>
              <a:t>Agent:</a:t>
            </a:r>
            <a:r>
              <a:rPr lang="en-US" dirty="0" err="1"/>
              <a:t>Manages</a:t>
            </a:r>
            <a:r>
              <a:rPr lang="en-US" dirty="0"/>
              <a:t> payments and </a:t>
            </a:r>
            <a:r>
              <a:rPr lang="en-US" dirty="0" err="1"/>
              <a:t>transactions.Verifies</a:t>
            </a:r>
            <a:r>
              <a:rPr lang="en-US" dirty="0"/>
              <a:t> booking </a:t>
            </a:r>
            <a:r>
              <a:rPr lang="en-US" dirty="0" err="1"/>
              <a:t>payments.Generates</a:t>
            </a:r>
            <a:r>
              <a:rPr lang="en-US" dirty="0"/>
              <a:t> financial records and invoices.</a:t>
            </a:r>
          </a:p>
          <a:p>
            <a:r>
              <a:rPr lang="en-US" b="1" dirty="0"/>
              <a:t>Operations </a:t>
            </a:r>
            <a:r>
              <a:rPr lang="en-US" b="1" dirty="0" err="1"/>
              <a:t>Agent:</a:t>
            </a:r>
            <a:r>
              <a:rPr lang="en-US" dirty="0" err="1"/>
              <a:t>Manages</a:t>
            </a:r>
            <a:r>
              <a:rPr lang="en-US" dirty="0"/>
              <a:t> tour </a:t>
            </a:r>
            <a:r>
              <a:rPr lang="en-US" dirty="0" err="1"/>
              <a:t>packages.Updates</a:t>
            </a:r>
            <a:r>
              <a:rPr lang="en-US" dirty="0"/>
              <a:t> prices and </a:t>
            </a:r>
            <a:r>
              <a:rPr lang="en-US" dirty="0" err="1"/>
              <a:t>availability.Manages</a:t>
            </a:r>
            <a:r>
              <a:rPr lang="en-US" dirty="0"/>
              <a:t> inventory of hotel rooms, seats, and </a:t>
            </a:r>
            <a:r>
              <a:rPr lang="en-US" dirty="0" err="1"/>
              <a:t>tours.Agents</a:t>
            </a:r>
            <a:r>
              <a:rPr lang="en-US" dirty="0"/>
              <a:t> are considered power users of the system because they perform most operational tasks.</a:t>
            </a:r>
          </a:p>
          <a:p>
            <a:pPr>
              <a:buFont typeface="Arial" panose="020B0604020202020204" pitchFamily="34" charset="0"/>
              <a:buChar char="•"/>
            </a:pPr>
            <a:r>
              <a:rPr lang="en-US" b="1" dirty="0"/>
              <a:t>The Admin (Manager):</a:t>
            </a:r>
            <a:r>
              <a:rPr lang="en-US" dirty="0"/>
              <a:t> Has the overall view. They manage the staff accounts, look at sales reports to see what’s making money, and handle the overall system settings.</a:t>
            </a:r>
          </a:p>
          <a:p>
            <a:endParaRPr lang="en-US" dirty="0"/>
          </a:p>
        </p:txBody>
      </p:sp>
    </p:spTree>
    <p:extLst>
      <p:ext uri="{BB962C8B-B14F-4D97-AF65-F5344CB8AC3E}">
        <p14:creationId xmlns:p14="http://schemas.microsoft.com/office/powerpoint/2010/main" val="1930052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1BA51-5C1D-DEE6-1E39-497267B5EFC4}"/>
              </a:ext>
            </a:extLst>
          </p:cNvPr>
          <p:cNvSpPr>
            <a:spLocks noGrp="1"/>
          </p:cNvSpPr>
          <p:nvPr>
            <p:ph type="title"/>
          </p:nvPr>
        </p:nvSpPr>
        <p:spPr/>
        <p:txBody>
          <a:bodyPr/>
          <a:lstStyle/>
          <a:p>
            <a:r>
              <a:rPr lang="en-US" dirty="0"/>
              <a:t>General Requirements</a:t>
            </a:r>
          </a:p>
        </p:txBody>
      </p:sp>
      <p:sp>
        <p:nvSpPr>
          <p:cNvPr id="5" name="Rectangle 2">
            <a:extLst>
              <a:ext uri="{FF2B5EF4-FFF2-40B4-BE49-F238E27FC236}">
                <a16:creationId xmlns:a16="http://schemas.microsoft.com/office/drawing/2014/main" id="{56D977C4-C4B0-8EB4-F1C3-0C1C6199999F}"/>
              </a:ext>
            </a:extLst>
          </p:cNvPr>
          <p:cNvSpPr>
            <a:spLocks noGrp="1" noChangeArrowheads="1"/>
          </p:cNvSpPr>
          <p:nvPr>
            <p:ph idx="1"/>
          </p:nvPr>
        </p:nvSpPr>
        <p:spPr bwMode="auto">
          <a:xfrm>
            <a:off x="1024127" y="2084659"/>
            <a:ext cx="10919057" cy="4252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en-US" sz="2000" b="1" dirty="0"/>
              <a:t>Functional (What it does):</a:t>
            </a:r>
            <a:endParaRPr lang="en-US" sz="2000" dirty="0"/>
          </a:p>
          <a:p>
            <a:pPr>
              <a:buFont typeface="Arial" panose="020B0604020202020204" pitchFamily="34" charset="0"/>
              <a:buChar char="•"/>
            </a:pPr>
            <a:r>
              <a:rPr lang="en-US" sz="2000" b="1" dirty="0"/>
              <a:t>Secure Login:</a:t>
            </a:r>
            <a:r>
              <a:rPr lang="en-US" sz="2000" dirty="0"/>
              <a:t> Everyone needs a profile.</a:t>
            </a:r>
          </a:p>
          <a:p>
            <a:pPr>
              <a:buFont typeface="Arial" panose="020B0604020202020204" pitchFamily="34" charset="0"/>
              <a:buChar char="•"/>
            </a:pPr>
            <a:r>
              <a:rPr lang="en-US" sz="2000" b="1" dirty="0"/>
              <a:t>Search &amp; Filter:</a:t>
            </a:r>
            <a:r>
              <a:rPr lang="en-US" sz="2000" dirty="0"/>
              <a:t> Users should be able to sort by "Beach vs. Mountains" or "Cheap vs. Luxury."</a:t>
            </a:r>
          </a:p>
          <a:p>
            <a:pPr>
              <a:buFont typeface="Arial" panose="020B0604020202020204" pitchFamily="34" charset="0"/>
              <a:buChar char="•"/>
            </a:pPr>
            <a:r>
              <a:rPr lang="en-US" sz="2000" b="1" dirty="0"/>
              <a:t>Booking Engine:</a:t>
            </a:r>
            <a:r>
              <a:rPr lang="en-US" sz="2000" dirty="0"/>
              <a:t> A logic-based system that handles dates and availability.</a:t>
            </a:r>
          </a:p>
          <a:p>
            <a:pPr>
              <a:buFont typeface="Arial" panose="020B0604020202020204" pitchFamily="34" charset="0"/>
              <a:buChar char="•"/>
            </a:pPr>
            <a:r>
              <a:rPr lang="en-US" sz="2000" b="1" dirty="0"/>
              <a:t>Payment Simulation:</a:t>
            </a:r>
            <a:r>
              <a:rPr lang="en-US" sz="2000" dirty="0"/>
              <a:t> A way to process transactions and confirm bookings.</a:t>
            </a:r>
          </a:p>
          <a:p>
            <a:r>
              <a:rPr lang="en-US" sz="2000" b="1" dirty="0"/>
              <a:t>Non-Functional (How well it does it):</a:t>
            </a:r>
            <a:endParaRPr lang="en-US" sz="2000" dirty="0"/>
          </a:p>
          <a:p>
            <a:pPr>
              <a:buFont typeface="Arial" panose="020B0604020202020204" pitchFamily="34" charset="0"/>
              <a:buChar char="•"/>
            </a:pPr>
            <a:r>
              <a:rPr lang="en-US" sz="2000" b="1" dirty="0"/>
              <a:t>Speed:</a:t>
            </a:r>
            <a:r>
              <a:rPr lang="en-US" sz="2000" dirty="0"/>
              <a:t> It shouldn't take forever to load a list of hotels.</a:t>
            </a:r>
          </a:p>
          <a:p>
            <a:pPr>
              <a:buFont typeface="Arial" panose="020B0604020202020204" pitchFamily="34" charset="0"/>
              <a:buChar char="•"/>
            </a:pPr>
            <a:r>
              <a:rPr lang="en-US" sz="2000" b="1" dirty="0"/>
              <a:t>Reliability:</a:t>
            </a:r>
            <a:r>
              <a:rPr lang="en-US" sz="2000" dirty="0"/>
              <a:t> The data must be accurate. If the system says there’s 1 room left, there better be exactly 1 room left.</a:t>
            </a:r>
          </a:p>
          <a:p>
            <a:pPr>
              <a:buFont typeface="Arial" panose="020B0604020202020204" pitchFamily="34" charset="0"/>
              <a:buChar char="•"/>
            </a:pPr>
            <a:r>
              <a:rPr lang="en-US" sz="2000" b="1" dirty="0"/>
              <a:t>Mobile-Friendly:</a:t>
            </a:r>
            <a:r>
              <a:rPr lang="en-US" sz="2000" dirty="0"/>
              <a:t> It needs to look good on a laptop for the agent and a phone for the traveler.</a:t>
            </a:r>
          </a:p>
        </p:txBody>
      </p:sp>
    </p:spTree>
    <p:extLst>
      <p:ext uri="{BB962C8B-B14F-4D97-AF65-F5344CB8AC3E}">
        <p14:creationId xmlns:p14="http://schemas.microsoft.com/office/powerpoint/2010/main" val="26016477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TM02900720[[fn=Integral]]</Template>
  <TotalTime>30</TotalTime>
  <Words>483</Words>
  <Application>Microsoft Macintosh PowerPoint</Application>
  <PresentationFormat>Widescreen</PresentationFormat>
  <Paragraphs>27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Tw Cen MT</vt:lpstr>
      <vt:lpstr>Tw Cen MT Condensed</vt:lpstr>
      <vt:lpstr>Wingdings 3</vt:lpstr>
      <vt:lpstr>Integral</vt:lpstr>
      <vt:lpstr>Tourist Agency Information System</vt:lpstr>
      <vt:lpstr>Project Description</vt:lpstr>
      <vt:lpstr>Aim of the System</vt:lpstr>
      <vt:lpstr>User Levels</vt:lpstr>
      <vt:lpstr>General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Tourist Agency Information System</dc:title>
  <dc:creator>Amar Kruja</dc:creator>
  <cp:lastModifiedBy>Microsoft Office User</cp:lastModifiedBy>
  <cp:revision>3</cp:revision>
  <dcterms:created xsi:type="dcterms:W3CDTF">2026-03-06T09:01:15Z</dcterms:created>
  <dcterms:modified xsi:type="dcterms:W3CDTF">2026-03-11T21:29:06Z</dcterms:modified>
</cp:coreProperties>
</file>