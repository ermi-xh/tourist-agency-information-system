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14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79" d="100"/>
          <a:sy n="79" d="100"/>
        </p:scale>
        <p:origin x="850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 bwMode="blackWhite">
          <a:xfrm>
            <a:off x="1600200" y="2386744"/>
            <a:ext cx="8991600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 lIns="274320" rIns="274320" anchor="ctr" anchorCtr="1">
            <a:normAutofit/>
          </a:bodyPr>
          <a:lstStyle>
            <a:lvl1pPr algn="ctr">
              <a:defRPr sz="3800">
                <a:solidFill>
                  <a:srgbClr val="262626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95194" y="4352544"/>
            <a:ext cx="6801612" cy="1239894"/>
          </a:xfrm>
          <a:noFill/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3EFB35-67F9-4965-96BD-78D647E6C0F2}" type="datetimeFigureOut">
              <a:rPr lang="en-US" smtClean="0"/>
              <a:t>12-Mar-26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D4118A-213C-443C-AD69-42000585E95B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5833498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3EFB35-67F9-4965-96BD-78D647E6C0F2}" type="datetimeFigureOut">
              <a:rPr lang="en-US" smtClean="0"/>
              <a:t>12-Mar-26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D4118A-213C-443C-AD69-42000585E95B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1396500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1600200" y="2386744"/>
            <a:ext cx="8991600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 lIns="274320" rIns="274320" anchor="ctr" anchorCtr="1">
            <a:normAutofit/>
          </a:bodyPr>
          <a:lstStyle>
            <a:lvl1pPr>
              <a:defRPr sz="3800">
                <a:solidFill>
                  <a:srgbClr val="262626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695194" y="4352465"/>
            <a:ext cx="6801612" cy="1265082"/>
          </a:xfrm>
        </p:spPr>
        <p:txBody>
          <a:bodyPr anchor="t" anchorCtr="1"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3EFB35-67F9-4965-96BD-78D647E6C0F2}" type="datetimeFigureOut">
              <a:rPr lang="en-US" smtClean="0"/>
              <a:t>12-Mar-26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D4118A-213C-443C-AD69-42000585E95B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114294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581912" y="2638044"/>
            <a:ext cx="4271771" cy="310198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38315" y="2638044"/>
            <a:ext cx="4270247" cy="310198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3EFB35-67F9-4965-96BD-78D647E6C0F2}" type="datetimeFigureOut">
              <a:rPr lang="en-US" smtClean="0"/>
              <a:t>12-Mar-26</a:t>
            </a:fld>
            <a:endParaRPr lang="en-US" dirty="0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D4118A-213C-443C-AD69-42000585E95B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520917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83436" y="2313433"/>
            <a:ext cx="4270248" cy="704087"/>
          </a:xfrm>
        </p:spPr>
        <p:txBody>
          <a:bodyPr anchor="b" anchorCtr="1">
            <a:normAutofit/>
          </a:bodyPr>
          <a:lstStyle>
            <a:lvl1pPr marL="0" indent="0" algn="ctr">
              <a:buNone/>
              <a:defRPr sz="1900" b="0" cap="all" spc="100" baseline="0">
                <a:solidFill>
                  <a:schemeClr val="accent2">
                    <a:lumMod val="75000"/>
                  </a:schemeClr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583436" y="3143250"/>
            <a:ext cx="4270248" cy="259677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338316" y="3143250"/>
            <a:ext cx="4253484" cy="2596776"/>
          </a:xfrm>
        </p:spPr>
        <p:txBody>
          <a:bodyPr/>
          <a:lstStyle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6338316" y="2313433"/>
            <a:ext cx="4270248" cy="704087"/>
          </a:xfrm>
        </p:spPr>
        <p:txBody>
          <a:bodyPr anchor="b" anchorCtr="1">
            <a:normAutofit/>
          </a:bodyPr>
          <a:lstStyle>
            <a:lvl1pPr marL="0" indent="0" algn="ctr">
              <a:buNone/>
              <a:defRPr sz="1900" b="0" cap="all" spc="100" baseline="0">
                <a:solidFill>
                  <a:schemeClr val="accent2">
                    <a:lumMod val="75000"/>
                  </a:schemeClr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3EFB35-67F9-4965-96BD-78D647E6C0F2}" type="datetimeFigureOut">
              <a:rPr lang="en-US" smtClean="0"/>
              <a:t>12-Mar-26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D4118A-213C-443C-AD69-42000585E95B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814344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3EFB35-67F9-4965-96BD-78D647E6C0F2}" type="datetimeFigureOut">
              <a:rPr lang="en-US" smtClean="0"/>
              <a:t>12-Mar-26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D4118A-213C-443C-AD69-42000585E95B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1830690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3EFB35-67F9-4965-96BD-78D647E6C0F2}" type="datetimeFigureOut">
              <a:rPr lang="en-US" smtClean="0"/>
              <a:t>12-Mar-26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D4118A-213C-443C-AD69-42000585E95B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432461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25"/>
          <p:cNvSpPr/>
          <p:nvPr/>
        </p:nvSpPr>
        <p:spPr>
          <a:xfrm>
            <a:off x="0" y="0"/>
            <a:ext cx="609600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804672" y="2243828"/>
            <a:ext cx="4486656" cy="1141497"/>
          </a:xfrm>
          <a:solidFill>
            <a:srgbClr val="FFFFFF"/>
          </a:solidFill>
          <a:ln>
            <a:solidFill>
              <a:srgbClr val="404040"/>
            </a:solidFill>
          </a:ln>
        </p:spPr>
        <p:txBody>
          <a:bodyPr anchor="ctr" anchorCtr="1">
            <a:normAutofit/>
          </a:bodyPr>
          <a:lstStyle>
            <a:lvl1pPr>
              <a:defRPr sz="2200">
                <a:solidFill>
                  <a:srgbClr val="262626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736080" y="804672"/>
            <a:ext cx="4815840" cy="5248656"/>
          </a:xfrm>
        </p:spPr>
        <p:txBody>
          <a:bodyPr>
            <a:normAutofit/>
          </a:bodyPr>
          <a:lstStyle>
            <a:lvl1pPr>
              <a:defRPr sz="1900">
                <a:solidFill>
                  <a:schemeClr val="tx1"/>
                </a:solidFill>
              </a:defRPr>
            </a:lvl1pPr>
            <a:lvl2pPr>
              <a:defRPr sz="1600">
                <a:solidFill>
                  <a:schemeClr val="tx1"/>
                </a:solidFill>
              </a:defRPr>
            </a:lvl2pPr>
            <a:lvl3pPr>
              <a:defRPr sz="1600">
                <a:solidFill>
                  <a:schemeClr val="tx1"/>
                </a:solidFill>
              </a:defRPr>
            </a:lvl3pPr>
            <a:lvl4pPr>
              <a:defRPr sz="1600">
                <a:solidFill>
                  <a:schemeClr val="tx1"/>
                </a:solidFill>
              </a:defRPr>
            </a:lvl4pPr>
            <a:lvl5pPr>
              <a:defRPr sz="1600">
                <a:solidFill>
                  <a:schemeClr val="tx1"/>
                </a:solidFill>
              </a:defRPr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5568" y="3549918"/>
            <a:ext cx="3794760" cy="2194036"/>
          </a:xfrm>
        </p:spPr>
        <p:txBody>
          <a:bodyPr anchor="t" anchorCtr="1">
            <a:normAutofit/>
          </a:bodyPr>
          <a:lstStyle>
            <a:lvl1pPr marL="0" indent="0" algn="ctr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Date Placeholder 8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3EFB35-67F9-4965-96BD-78D647E6C0F2}" type="datetimeFigureOut">
              <a:rPr lang="en-US" smtClean="0"/>
              <a:t>12-Mar-26</a:t>
            </a:fld>
            <a:endParaRPr lang="en-US" dirty="0"/>
          </a:p>
        </p:txBody>
      </p:sp>
      <p:sp>
        <p:nvSpPr>
          <p:cNvPr id="10" name="Footer Placeholder 9"/>
          <p:cNvSpPr>
            <a:spLocks noGrp="1"/>
          </p:cNvSpPr>
          <p:nvPr>
            <p:ph type="ftr" sz="quarter" idx="11"/>
          </p:nvPr>
        </p:nvSpPr>
        <p:spPr>
          <a:xfrm>
            <a:off x="804672" y="6236208"/>
            <a:ext cx="5124797" cy="320040"/>
          </a:xfrm>
        </p:spPr>
        <p:txBody>
          <a:bodyPr/>
          <a:lstStyle>
            <a:lvl1pPr>
              <a:defRPr>
                <a:solidFill>
                  <a:srgbClr val="FFFFFF">
                    <a:alpha val="70000"/>
                  </a:srgb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11" name="Slide Number Placeholder 10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D4118A-213C-443C-AD69-42000585E95B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983893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/>
          <p:cNvSpPr/>
          <p:nvPr/>
        </p:nvSpPr>
        <p:spPr>
          <a:xfrm>
            <a:off x="0" y="0"/>
            <a:ext cx="6095999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808523" y="2243828"/>
            <a:ext cx="4494998" cy="1134640"/>
          </a:xfrm>
          <a:solidFill>
            <a:srgbClr val="FFFFFF"/>
          </a:solidFill>
          <a:ln>
            <a:solidFill>
              <a:srgbClr val="404040"/>
            </a:solidFill>
          </a:ln>
        </p:spPr>
        <p:txBody>
          <a:bodyPr anchor="ctr" anchorCtr="1">
            <a:noAutofit/>
          </a:bodyPr>
          <a:lstStyle>
            <a:lvl1pPr>
              <a:defRPr sz="2200">
                <a:solidFill>
                  <a:srgbClr val="262626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095999" y="0"/>
            <a:ext cx="6102097" cy="6858000"/>
          </a:xfrm>
          <a:solidFill>
            <a:schemeClr val="bg1">
              <a:lumMod val="75000"/>
            </a:schemeClr>
          </a:solidFill>
        </p:spPr>
        <p:txBody>
          <a:bodyPr anchor="t"/>
          <a:lstStyle>
            <a:lvl1pPr marL="0" indent="0">
              <a:buNone/>
              <a:defRPr sz="3200">
                <a:solidFill>
                  <a:schemeClr val="bg1">
                    <a:lumMod val="85000"/>
                    <a:lumOff val="15000"/>
                  </a:schemeClr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5568" y="3549918"/>
            <a:ext cx="3794760" cy="2194037"/>
          </a:xfrm>
        </p:spPr>
        <p:txBody>
          <a:bodyPr anchor="t" anchorCtr="1">
            <a:normAutofit/>
          </a:bodyPr>
          <a:lstStyle>
            <a:lvl1pPr marL="0" indent="0" algn="ctr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  <a:effectLst>
                  <a:outerShdw blurRad="50800" dist="38100" dir="2700000" algn="tl" rotWithShape="0">
                    <a:prstClr val="black">
                      <a:alpha val="43000"/>
                    </a:prstClr>
                  </a:outerShdw>
                </a:effectLst>
              </a:defRPr>
            </a:lvl1pPr>
          </a:lstStyle>
          <a:p>
            <a:fld id="{6B3EFB35-67F9-4965-96BD-78D647E6C0F2}" type="datetimeFigureOut">
              <a:rPr lang="en-US" smtClean="0"/>
              <a:t>12-Mar-26</a:t>
            </a:fld>
            <a:endParaRPr lang="en-US" dirty="0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>
          <a:xfrm>
            <a:off x="804672" y="6236208"/>
            <a:ext cx="5124797" cy="320040"/>
          </a:xfrm>
        </p:spPr>
        <p:txBody>
          <a:bodyPr/>
          <a:lstStyle>
            <a:lvl1pPr>
              <a:defRPr>
                <a:solidFill>
                  <a:srgbClr val="FFFFFF">
                    <a:alpha val="70000"/>
                  </a:srgb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D4118A-213C-443C-AD69-42000585E95B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6297215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3EFB35-67F9-4965-96BD-78D647E6C0F2}" type="datetimeFigureOut">
              <a:rPr lang="en-US" smtClean="0"/>
              <a:t>12-Mar-26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D4118A-213C-443C-AD69-42000585E95B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1954888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53112" y="937260"/>
            <a:ext cx="1298608" cy="498348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231136" y="937260"/>
            <a:ext cx="6198489" cy="498348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3EFB35-67F9-4965-96BD-78D647E6C0F2}" type="datetimeFigureOut">
              <a:rPr lang="en-US" smtClean="0"/>
              <a:t>12-Mar-26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D4118A-213C-443C-AD69-42000585E95B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8768478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black">
          <a:xfrm>
            <a:off x="2231136" y="964692"/>
            <a:ext cx="7729728" cy="1188720"/>
          </a:xfrm>
          <a:prstGeom prst="rect">
            <a:avLst/>
          </a:prstGeom>
          <a:solidFill>
            <a:srgbClr val="FFFFFF"/>
          </a:solidFill>
          <a:ln w="31750" cap="sq">
            <a:solidFill>
              <a:srgbClr val="404040"/>
            </a:solidFill>
            <a:miter lim="800000"/>
          </a:ln>
        </p:spPr>
        <p:txBody>
          <a:bodyPr vert="horz" lIns="182880" tIns="182880" rIns="182880" bIns="18288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231136" y="2638044"/>
            <a:ext cx="7729728" cy="310198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821429" y="6238816"/>
            <a:ext cx="2753746" cy="32396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alpha val="70000"/>
                  </a:schemeClr>
                </a:solidFill>
              </a:defRPr>
            </a:lvl1pPr>
          </a:lstStyle>
          <a:p>
            <a:fld id="{6B3EFB35-67F9-4965-96BD-78D647E6C0F2}" type="datetimeFigureOut">
              <a:rPr lang="en-US" smtClean="0"/>
              <a:t>12-Mar-26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600200" y="6236208"/>
            <a:ext cx="5901189" cy="3200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>
                    <a:alpha val="70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758922" y="6217920"/>
            <a:ext cx="365760" cy="365760"/>
          </a:xfrm>
          <a:prstGeom prst="ellipse">
            <a:avLst/>
          </a:prstGeom>
          <a:solidFill>
            <a:srgbClr val="1D1D1D">
              <a:alpha val="70000"/>
            </a:srgbClr>
          </a:solidFill>
        </p:spPr>
        <p:txBody>
          <a:bodyPr vert="horz" lIns="18288" tIns="45720" rIns="18288" bIns="45720" rtlCol="0" anchor="ctr">
            <a:noAutofit/>
          </a:bodyPr>
          <a:lstStyle>
            <a:lvl1pPr algn="ctr">
              <a:defRPr sz="1100" spc="0" baseline="0">
                <a:solidFill>
                  <a:srgbClr val="FFFFFF"/>
                </a:solidFill>
              </a:defRPr>
            </a:lvl1pPr>
          </a:lstStyle>
          <a:p>
            <a:fld id="{9BD4118A-213C-443C-AD69-42000585E95B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592497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5" r:id="rId1"/>
    <p:sldLayoutId id="2147483716" r:id="rId2"/>
    <p:sldLayoutId id="2147483717" r:id="rId3"/>
    <p:sldLayoutId id="2147483718" r:id="rId4"/>
    <p:sldLayoutId id="2147483719" r:id="rId5"/>
    <p:sldLayoutId id="2147483720" r:id="rId6"/>
    <p:sldLayoutId id="2147483721" r:id="rId7"/>
    <p:sldLayoutId id="2147483722" r:id="rId8"/>
    <p:sldLayoutId id="2147483723" r:id="rId9"/>
    <p:sldLayoutId id="2147483724" r:id="rId10"/>
    <p:sldLayoutId id="2147483725" r:id="rId11"/>
  </p:sldLayoutIdLst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2800" kern="1200" cap="all" spc="200" baseline="0">
          <a:solidFill>
            <a:srgbClr val="262626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8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4pPr>
      <a:lvl5pPr marL="11430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5pPr>
      <a:lvl6pPr marL="1312863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484313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165735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1882775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D45578-7EFC-F648-0110-A709325CB93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>
                <a:sym typeface="Wingdings" panose="05000000000000000000" pitchFamily="2" charset="2"/>
              </a:rPr>
              <a:t>TOURIST AGENCY 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0432FE9-B5D4-7732-E266-F637AB50C57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69848" y="4645152"/>
            <a:ext cx="7315200" cy="914400"/>
          </a:xfrm>
        </p:spPr>
        <p:txBody>
          <a:bodyPr/>
          <a:lstStyle/>
          <a:p>
            <a:r>
              <a:rPr lang="en-US" dirty="0"/>
              <a:t>LIST OF FUNCTIONAL AND NON-FUNCTIONAL REQURIEMENTS</a:t>
            </a:r>
          </a:p>
        </p:txBody>
      </p:sp>
    </p:spTree>
    <p:extLst>
      <p:ext uri="{BB962C8B-B14F-4D97-AF65-F5344CB8AC3E}">
        <p14:creationId xmlns:p14="http://schemas.microsoft.com/office/powerpoint/2010/main" val="349100930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A4DB3B-490C-7B1F-D03E-24C42E87D5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31136" y="205934"/>
            <a:ext cx="7729728" cy="1188720"/>
          </a:xfrm>
        </p:spPr>
        <p:txBody>
          <a:bodyPr/>
          <a:lstStyle/>
          <a:p>
            <a:r>
              <a:rPr lang="en-US" dirty="0"/>
              <a:t>Functional requirements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BFB8C8C5-E39F-3F6E-B181-894B5FF4C3A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1753" y="1673157"/>
            <a:ext cx="5000018" cy="4844375"/>
          </a:xfrm>
          <a:ln>
            <a:solidFill>
              <a:schemeClr val="tx1"/>
            </a:solidFill>
            <a:prstDash val="dash"/>
          </a:ln>
        </p:spPr>
        <p:txBody>
          <a:bodyPr>
            <a:normAutofit fontScale="92500" lnSpcReduction="20000"/>
          </a:bodyPr>
          <a:lstStyle/>
          <a:p>
            <a:r>
              <a:rPr lang="en-US" dirty="0"/>
              <a:t>Guest user views available tour packages</a:t>
            </a:r>
          </a:p>
          <a:p>
            <a:r>
              <a:rPr lang="en-US" dirty="0"/>
              <a:t>Guest user searches tour packages</a:t>
            </a:r>
          </a:p>
          <a:p>
            <a:r>
              <a:rPr lang="en-US" dirty="0"/>
              <a:t>Guest user filters tour packages by destination</a:t>
            </a:r>
          </a:p>
          <a:p>
            <a:r>
              <a:rPr lang="en-US" dirty="0"/>
              <a:t>Guest user filters tour packages by price</a:t>
            </a:r>
          </a:p>
          <a:p>
            <a:r>
              <a:rPr lang="en-US" dirty="0"/>
              <a:t>Guest user creates a customer account</a:t>
            </a:r>
          </a:p>
          <a:p>
            <a:r>
              <a:rPr lang="en-US" dirty="0"/>
              <a:t>Customer logs into the system</a:t>
            </a:r>
          </a:p>
          <a:p>
            <a:r>
              <a:rPr lang="en-US" dirty="0"/>
              <a:t>Customer searches tour packages</a:t>
            </a:r>
          </a:p>
          <a:p>
            <a:r>
              <a:rPr lang="en-US" dirty="0"/>
              <a:t>Customer filters tours by category</a:t>
            </a:r>
          </a:p>
          <a:p>
            <a:r>
              <a:rPr lang="en-US" dirty="0"/>
              <a:t>Customer views tour package details</a:t>
            </a:r>
          </a:p>
          <a:p>
            <a:r>
              <a:rPr lang="en-US" dirty="0"/>
              <a:t>Customer checks tour availability</a:t>
            </a:r>
          </a:p>
          <a:p>
            <a:r>
              <a:rPr lang="en-US" dirty="0"/>
              <a:t>Customer books a tour package</a:t>
            </a:r>
          </a:p>
          <a:p>
            <a:r>
              <a:rPr lang="en-US" dirty="0"/>
              <a:t>Customer selects travel dates</a:t>
            </a:r>
          </a:p>
          <a:p>
            <a:r>
              <a:rPr lang="en-US" dirty="0"/>
              <a:t>Customer enters traveler information</a:t>
            </a:r>
          </a:p>
          <a:p>
            <a:r>
              <a:rPr lang="en-US" dirty="0"/>
              <a:t>Customer makes payment for booking</a:t>
            </a:r>
          </a:p>
          <a:p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B499881-16BC-092A-201D-98EAD19A491C}"/>
              </a:ext>
            </a:extLst>
          </p:cNvPr>
          <p:cNvSpPr txBox="1"/>
          <p:nvPr/>
        </p:nvSpPr>
        <p:spPr>
          <a:xfrm>
            <a:off x="6579143" y="1673157"/>
            <a:ext cx="5000017" cy="4838248"/>
          </a:xfrm>
          <a:prstGeom prst="rect">
            <a:avLst/>
          </a:prstGeom>
          <a:noFill/>
          <a:ln w="12700">
            <a:solidFill>
              <a:schemeClr val="tx1"/>
            </a:solidFill>
            <a:prstDash val="dash"/>
          </a:ln>
        </p:spPr>
        <p:txBody>
          <a:bodyPr wrap="square" rtlCol="0">
            <a:spAutoFit/>
          </a:bodyPr>
          <a:lstStyle/>
          <a:p>
            <a:pPr marL="228600" indent="-228600" defTabSz="914400">
              <a:lnSpc>
                <a:spcPct val="8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sz="17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Customer receives booking confirmation</a:t>
            </a:r>
          </a:p>
          <a:p>
            <a:pPr marL="228600" indent="-228600" defTabSz="914400">
              <a:lnSpc>
                <a:spcPct val="8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sz="17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Customer downloads tickets and receipts</a:t>
            </a:r>
          </a:p>
          <a:p>
            <a:pPr marL="228600" indent="-228600" defTabSz="914400">
              <a:lnSpc>
                <a:spcPct val="8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sz="17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Customer views booking history</a:t>
            </a:r>
          </a:p>
          <a:p>
            <a:pPr marL="228600" indent="-228600" defTabSz="914400">
              <a:lnSpc>
                <a:spcPct val="8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sz="17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Customer cancels a booking</a:t>
            </a:r>
          </a:p>
          <a:p>
            <a:pPr marL="228600" indent="-228600" defTabSz="914400">
              <a:lnSpc>
                <a:spcPct val="8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sz="17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Customer updates personal profile</a:t>
            </a:r>
          </a:p>
          <a:p>
            <a:pPr marL="228600" indent="-228600" defTabSz="914400">
              <a:lnSpc>
                <a:spcPct val="8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sz="17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Booking agent creates bookings for customers</a:t>
            </a:r>
          </a:p>
          <a:p>
            <a:pPr marL="228600" indent="-228600" defTabSz="914400">
              <a:lnSpc>
                <a:spcPct val="8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sz="17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Booking agent updates reservation details</a:t>
            </a:r>
          </a:p>
          <a:p>
            <a:pPr marL="228600" indent="-228600" defTabSz="914400">
              <a:lnSpc>
                <a:spcPct val="8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sz="17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Booking agent cancels reservations</a:t>
            </a:r>
          </a:p>
          <a:p>
            <a:pPr marL="228600" indent="-228600" defTabSz="914400">
              <a:lnSpc>
                <a:spcPct val="8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sz="17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Booking agent checks travel package availability</a:t>
            </a:r>
          </a:p>
          <a:p>
            <a:pPr marL="228600" indent="-228600" defTabSz="914400">
              <a:lnSpc>
                <a:spcPct val="8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sz="17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Booking agent views customer travel history</a:t>
            </a:r>
          </a:p>
          <a:p>
            <a:pPr marL="228600" indent="-228600" defTabSz="914400">
              <a:lnSpc>
                <a:spcPct val="8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sz="17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Booking agent assists customers with booking modifications</a:t>
            </a:r>
          </a:p>
          <a:p>
            <a:pPr marL="228600" indent="-228600" defTabSz="914400">
              <a:lnSpc>
                <a:spcPct val="8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sz="17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Finance agent verifies customer payments</a:t>
            </a:r>
          </a:p>
          <a:p>
            <a:pPr marL="228600" indent="-228600" defTabSz="914400">
              <a:lnSpc>
                <a:spcPct val="8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sz="17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Finance agent generates invoices for bookings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8037834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0DE31B-C83F-008F-41D8-15BCE61F29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C19B22-E935-FFE0-041C-1DA908F207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31136" y="205934"/>
            <a:ext cx="7729728" cy="1188720"/>
          </a:xfrm>
        </p:spPr>
        <p:txBody>
          <a:bodyPr/>
          <a:lstStyle/>
          <a:p>
            <a:r>
              <a:rPr lang="en-US" dirty="0"/>
              <a:t>Functional requirements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CD42F632-CF80-606F-119D-A5FED49CD05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1753" y="1673157"/>
            <a:ext cx="5000018" cy="4844375"/>
          </a:xfrm>
          <a:ln>
            <a:solidFill>
              <a:schemeClr val="tx1"/>
            </a:solidFill>
            <a:prstDash val="dash"/>
          </a:ln>
        </p:spPr>
        <p:txBody>
          <a:bodyPr>
            <a:normAutofit fontScale="92500" lnSpcReduction="20000"/>
          </a:bodyPr>
          <a:lstStyle/>
          <a:p>
            <a:r>
              <a:rPr lang="en-US" dirty="0"/>
              <a:t>Guest user views available tour packages</a:t>
            </a:r>
          </a:p>
          <a:p>
            <a:r>
              <a:rPr lang="en-US" dirty="0"/>
              <a:t>Guest user searches tour packages</a:t>
            </a:r>
          </a:p>
          <a:p>
            <a:r>
              <a:rPr lang="en-US" dirty="0"/>
              <a:t>Guest user filters tour packages by destination</a:t>
            </a:r>
          </a:p>
          <a:p>
            <a:r>
              <a:rPr lang="en-US" dirty="0"/>
              <a:t>Guest user filters tour packages by price</a:t>
            </a:r>
          </a:p>
          <a:p>
            <a:r>
              <a:rPr lang="en-US" dirty="0"/>
              <a:t>Guest user creates a customer account</a:t>
            </a:r>
          </a:p>
          <a:p>
            <a:r>
              <a:rPr lang="en-US" dirty="0"/>
              <a:t>Customer logs into the system</a:t>
            </a:r>
          </a:p>
          <a:p>
            <a:r>
              <a:rPr lang="en-US" dirty="0"/>
              <a:t>Customer searches tour packages</a:t>
            </a:r>
          </a:p>
          <a:p>
            <a:r>
              <a:rPr lang="en-US" dirty="0"/>
              <a:t>Customer filters tours by category</a:t>
            </a:r>
          </a:p>
          <a:p>
            <a:r>
              <a:rPr lang="en-US" dirty="0"/>
              <a:t>Customer views tour package details</a:t>
            </a:r>
          </a:p>
          <a:p>
            <a:r>
              <a:rPr lang="en-US" dirty="0"/>
              <a:t>Customer checks tour availability</a:t>
            </a:r>
          </a:p>
          <a:p>
            <a:r>
              <a:rPr lang="en-US" dirty="0"/>
              <a:t>Customer books a tour package</a:t>
            </a:r>
          </a:p>
          <a:p>
            <a:r>
              <a:rPr lang="en-US" dirty="0"/>
              <a:t>Customer selects travel dates</a:t>
            </a:r>
          </a:p>
          <a:p>
            <a:r>
              <a:rPr lang="en-US" dirty="0"/>
              <a:t>Customer enters traveler information</a:t>
            </a:r>
          </a:p>
          <a:p>
            <a:r>
              <a:rPr lang="en-US" dirty="0"/>
              <a:t>Customer makes payment for booking</a:t>
            </a:r>
          </a:p>
          <a:p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0FE0368-5237-3876-3944-19370EE809E1}"/>
              </a:ext>
            </a:extLst>
          </p:cNvPr>
          <p:cNvSpPr txBox="1"/>
          <p:nvPr/>
        </p:nvSpPr>
        <p:spPr>
          <a:xfrm>
            <a:off x="6579143" y="1673157"/>
            <a:ext cx="5000017" cy="4838248"/>
          </a:xfrm>
          <a:prstGeom prst="rect">
            <a:avLst/>
          </a:prstGeom>
          <a:noFill/>
          <a:ln w="12700">
            <a:solidFill>
              <a:schemeClr val="tx1"/>
            </a:solidFill>
            <a:prstDash val="dash"/>
          </a:ln>
        </p:spPr>
        <p:txBody>
          <a:bodyPr wrap="square" rtlCol="0">
            <a:spAutoFit/>
          </a:bodyPr>
          <a:lstStyle/>
          <a:p>
            <a:pPr marL="228600" indent="-228600" defTabSz="914400">
              <a:lnSpc>
                <a:spcPct val="8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sz="17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Customer receives booking confirmation</a:t>
            </a:r>
          </a:p>
          <a:p>
            <a:pPr marL="228600" indent="-228600" defTabSz="914400">
              <a:lnSpc>
                <a:spcPct val="8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sz="17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Customer downloads tickets and receipts</a:t>
            </a:r>
          </a:p>
          <a:p>
            <a:pPr marL="228600" indent="-228600" defTabSz="914400">
              <a:lnSpc>
                <a:spcPct val="8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sz="17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Customer views booking history</a:t>
            </a:r>
          </a:p>
          <a:p>
            <a:pPr marL="228600" indent="-228600" defTabSz="914400">
              <a:lnSpc>
                <a:spcPct val="8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sz="17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Customer cancels a booking</a:t>
            </a:r>
          </a:p>
          <a:p>
            <a:pPr marL="228600" indent="-228600" defTabSz="914400">
              <a:lnSpc>
                <a:spcPct val="8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sz="17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Customer updates personal profile</a:t>
            </a:r>
          </a:p>
          <a:p>
            <a:pPr marL="228600" indent="-228600" defTabSz="914400">
              <a:lnSpc>
                <a:spcPct val="8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sz="17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Booking agent creates bookings for customers</a:t>
            </a:r>
          </a:p>
          <a:p>
            <a:pPr marL="228600" indent="-228600" defTabSz="914400">
              <a:lnSpc>
                <a:spcPct val="8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sz="17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Booking agent updates reservation details</a:t>
            </a:r>
          </a:p>
          <a:p>
            <a:pPr marL="228600" indent="-228600" defTabSz="914400">
              <a:lnSpc>
                <a:spcPct val="8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sz="17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Booking agent cancels reservations</a:t>
            </a:r>
          </a:p>
          <a:p>
            <a:pPr marL="228600" indent="-228600" defTabSz="914400">
              <a:lnSpc>
                <a:spcPct val="8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sz="17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Booking agent checks travel package availability</a:t>
            </a:r>
          </a:p>
          <a:p>
            <a:pPr marL="228600" indent="-228600" defTabSz="914400">
              <a:lnSpc>
                <a:spcPct val="8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sz="17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Booking agent views customer travel history</a:t>
            </a:r>
          </a:p>
          <a:p>
            <a:pPr marL="228600" indent="-228600" defTabSz="914400">
              <a:lnSpc>
                <a:spcPct val="8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sz="17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Booking agent assists customers with booking modifications</a:t>
            </a:r>
          </a:p>
          <a:p>
            <a:pPr marL="228600" indent="-228600" defTabSz="914400">
              <a:lnSpc>
                <a:spcPct val="8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sz="17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Finance agent verifies customer payments</a:t>
            </a:r>
          </a:p>
          <a:p>
            <a:pPr marL="228600" indent="-228600" defTabSz="914400">
              <a:lnSpc>
                <a:spcPct val="8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sz="17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Finance agent generates invoices for bookings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8991479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DD5CBF-83F2-ACF0-384B-5148E4FB1E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C95987-BB50-5F79-CBCC-AB2D37BAA7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31136" y="205934"/>
            <a:ext cx="7729728" cy="1188720"/>
          </a:xfrm>
        </p:spPr>
        <p:txBody>
          <a:bodyPr/>
          <a:lstStyle/>
          <a:p>
            <a:r>
              <a:rPr lang="en-US" dirty="0"/>
              <a:t>Functional requirements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764FDA98-DD42-129F-A18F-3A9296EB326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1753" y="1673157"/>
            <a:ext cx="5000018" cy="4838248"/>
          </a:xfrm>
          <a:ln>
            <a:solidFill>
              <a:schemeClr val="tx1"/>
            </a:solidFill>
            <a:prstDash val="dash"/>
          </a:ln>
        </p:spPr>
        <p:txBody>
          <a:bodyPr>
            <a:normAutofit fontScale="62500" lnSpcReduction="20000"/>
          </a:bodyPr>
          <a:lstStyle/>
          <a:p>
            <a:r>
              <a:rPr lang="en-US" sz="2400" dirty="0"/>
              <a:t>Finance agent records payment transactions</a:t>
            </a:r>
          </a:p>
          <a:p>
            <a:r>
              <a:rPr lang="en-US" sz="2400" dirty="0"/>
              <a:t> </a:t>
            </a:r>
          </a:p>
          <a:p>
            <a:r>
              <a:rPr lang="en-US" sz="2400" dirty="0"/>
              <a:t>Finance agent views financial transaction reports</a:t>
            </a:r>
          </a:p>
          <a:p>
            <a:r>
              <a:rPr lang="en-US" sz="2400" dirty="0"/>
              <a:t> </a:t>
            </a:r>
          </a:p>
          <a:p>
            <a:r>
              <a:rPr lang="en-US" sz="2400" dirty="0"/>
              <a:t>Operations agent creates tour packages</a:t>
            </a:r>
          </a:p>
          <a:p>
            <a:r>
              <a:rPr lang="en-US" sz="2400" dirty="0"/>
              <a:t> </a:t>
            </a:r>
          </a:p>
          <a:p>
            <a:r>
              <a:rPr lang="en-US" sz="2400" dirty="0"/>
              <a:t>Operations agent updates tour package prices</a:t>
            </a:r>
          </a:p>
          <a:p>
            <a:r>
              <a:rPr lang="en-US" sz="2400" dirty="0"/>
              <a:t> </a:t>
            </a:r>
          </a:p>
          <a:p>
            <a:r>
              <a:rPr lang="en-US" sz="2400" dirty="0"/>
              <a:t>Operations agent updates tour package availability</a:t>
            </a:r>
          </a:p>
          <a:p>
            <a:r>
              <a:rPr lang="en-US" sz="2400" dirty="0"/>
              <a:t> </a:t>
            </a:r>
          </a:p>
          <a:p>
            <a:r>
              <a:rPr lang="en-US" sz="2400" dirty="0"/>
              <a:t>Operations agent manages inventory of rooms and seats</a:t>
            </a:r>
          </a:p>
          <a:p>
            <a:r>
              <a:rPr lang="en-US" sz="2400" dirty="0"/>
              <a:t> </a:t>
            </a:r>
          </a:p>
          <a:p>
            <a:r>
              <a:rPr lang="en-US" sz="2400" dirty="0"/>
              <a:t>Administrator creates staff accounts</a:t>
            </a:r>
          </a:p>
          <a:p>
            <a:r>
              <a:rPr lang="en-US" sz="2400" dirty="0"/>
              <a:t> </a:t>
            </a:r>
          </a:p>
          <a:p>
            <a:r>
              <a:rPr lang="en-US" sz="2400" dirty="0"/>
              <a:t>Administrator updates staff account permissions</a:t>
            </a:r>
          </a:p>
          <a:p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7E112B7-61F4-C139-591D-1D5DA3631D00}"/>
              </a:ext>
            </a:extLst>
          </p:cNvPr>
          <p:cNvSpPr txBox="1"/>
          <p:nvPr/>
        </p:nvSpPr>
        <p:spPr>
          <a:xfrm>
            <a:off x="6540231" y="1673157"/>
            <a:ext cx="4656306" cy="4089325"/>
          </a:xfrm>
          <a:prstGeom prst="rect">
            <a:avLst/>
          </a:prstGeom>
          <a:noFill/>
          <a:ln w="12700">
            <a:solidFill>
              <a:schemeClr val="tx1"/>
            </a:solidFill>
            <a:prstDash val="dash"/>
          </a:ln>
        </p:spPr>
        <p:txBody>
          <a:bodyPr wrap="square" rtlCol="0">
            <a:spAutoFit/>
          </a:bodyPr>
          <a:lstStyle/>
          <a:p>
            <a:pPr marL="228600" indent="-228600" defTabSz="914400">
              <a:lnSpc>
                <a:spcPct val="8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>
                    <a:lumMod val="85000"/>
                    <a:lumOff val="15000"/>
                  </a:schemeClr>
                </a:solidFill>
              </a:rPr>
              <a:t>Administrator deletes staff accounts</a:t>
            </a:r>
          </a:p>
          <a:p>
            <a:pPr marL="228600" indent="-228600" defTabSz="914400">
              <a:lnSpc>
                <a:spcPct val="8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>
                    <a:lumMod val="85000"/>
                    <a:lumOff val="15000"/>
                  </a:schemeClr>
                </a:solidFill>
              </a:rPr>
              <a:t> </a:t>
            </a:r>
          </a:p>
          <a:p>
            <a:pPr marL="228600" indent="-228600" defTabSz="914400">
              <a:lnSpc>
                <a:spcPct val="8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>
                    <a:lumMod val="85000"/>
                    <a:lumOff val="15000"/>
                  </a:schemeClr>
                </a:solidFill>
              </a:rPr>
              <a:t>Administrator views sales reports</a:t>
            </a:r>
          </a:p>
          <a:p>
            <a:pPr marL="228600" indent="-228600" defTabSz="914400">
              <a:lnSpc>
                <a:spcPct val="8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>
                    <a:lumMod val="85000"/>
                    <a:lumOff val="15000"/>
                  </a:schemeClr>
                </a:solidFill>
              </a:rPr>
              <a:t> </a:t>
            </a:r>
          </a:p>
          <a:p>
            <a:pPr marL="228600" indent="-228600" defTabSz="914400">
              <a:lnSpc>
                <a:spcPct val="8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>
                    <a:lumMod val="85000"/>
                    <a:lumOff val="15000"/>
                  </a:schemeClr>
                </a:solidFill>
              </a:rPr>
              <a:t>Administrator configures system settings</a:t>
            </a:r>
          </a:p>
          <a:p>
            <a:pPr marL="228600" indent="-228600" defTabSz="914400">
              <a:lnSpc>
                <a:spcPct val="8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>
                    <a:lumMod val="85000"/>
                    <a:lumOff val="15000"/>
                  </a:schemeClr>
                </a:solidFill>
              </a:rPr>
              <a:t> </a:t>
            </a:r>
          </a:p>
          <a:p>
            <a:pPr marL="228600" indent="-228600" defTabSz="914400">
              <a:lnSpc>
                <a:spcPct val="8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>
                    <a:lumMod val="85000"/>
                    <a:lumOff val="15000"/>
                  </a:schemeClr>
                </a:solidFill>
              </a:rPr>
              <a:t>System updates inventory after booking</a:t>
            </a:r>
          </a:p>
          <a:p>
            <a:pPr marL="228600" indent="-228600" defTabSz="914400">
              <a:lnSpc>
                <a:spcPct val="8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>
                    <a:lumMod val="85000"/>
                    <a:lumOff val="15000"/>
                  </a:schemeClr>
                </a:solidFill>
              </a:rPr>
              <a:t> </a:t>
            </a:r>
          </a:p>
          <a:p>
            <a:pPr marL="228600" indent="-228600" defTabSz="914400">
              <a:lnSpc>
                <a:spcPct val="8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>
                    <a:lumMod val="85000"/>
                    <a:lumOff val="15000"/>
                  </a:schemeClr>
                </a:solidFill>
              </a:rPr>
              <a:t>System generates PDF tickets and receipts</a:t>
            </a:r>
          </a:p>
          <a:p>
            <a:pPr marL="228600" indent="-228600" defTabSz="914400">
              <a:lnSpc>
                <a:spcPct val="8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>
                    <a:lumMod val="85000"/>
                    <a:lumOff val="15000"/>
                  </a:schemeClr>
                </a:solidFill>
              </a:rPr>
              <a:t> </a:t>
            </a:r>
          </a:p>
          <a:p>
            <a:pPr marL="228600" indent="-228600" defTabSz="914400">
              <a:lnSpc>
                <a:spcPct val="8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>
                    <a:lumMod val="85000"/>
                    <a:lumOff val="15000"/>
                  </a:schemeClr>
                </a:solidFill>
              </a:rPr>
              <a:t>System stores customer travel history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4126427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8835CB-B2E3-AA6B-3F2B-02D0CFAA92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8C1122-6828-A4B7-D4DC-FBEECF3FA6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31136" y="205934"/>
            <a:ext cx="7729728" cy="1188720"/>
          </a:xfrm>
        </p:spPr>
        <p:txBody>
          <a:bodyPr/>
          <a:lstStyle/>
          <a:p>
            <a:r>
              <a:rPr lang="en-US" dirty="0"/>
              <a:t>NON-Functional requirements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432BA3E7-F6B1-2740-5287-3C7E0E238F2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6110" y="1673157"/>
            <a:ext cx="5000018" cy="4945252"/>
          </a:xfrm>
          <a:ln>
            <a:solidFill>
              <a:schemeClr val="tx1"/>
            </a:solidFill>
            <a:prstDash val="dash"/>
          </a:ln>
        </p:spPr>
        <p:txBody>
          <a:bodyPr>
            <a:normAutofit fontScale="85000" lnSpcReduction="20000"/>
          </a:bodyPr>
          <a:lstStyle/>
          <a:p>
            <a:r>
              <a:rPr lang="en-US" dirty="0"/>
              <a:t>The system shall load search results within 3 seconds.</a:t>
            </a:r>
          </a:p>
          <a:p>
            <a:r>
              <a:rPr lang="en-US" dirty="0"/>
              <a:t>The system shall process bookings within 5 seconds.</a:t>
            </a:r>
          </a:p>
          <a:p>
            <a:r>
              <a:rPr lang="en-US" dirty="0"/>
              <a:t>The system shall support multiple simultaneous users.</a:t>
            </a:r>
          </a:p>
          <a:p>
            <a:r>
              <a:rPr lang="en-US" dirty="0"/>
              <a:t>Reliability</a:t>
            </a:r>
          </a:p>
          <a:p>
            <a:r>
              <a:rPr lang="en-US" dirty="0"/>
              <a:t>The system shall maintain accurate booking information.</a:t>
            </a:r>
          </a:p>
          <a:p>
            <a:r>
              <a:rPr lang="en-US" dirty="0"/>
              <a:t>The system shall prevent double booking of services.</a:t>
            </a:r>
          </a:p>
          <a:p>
            <a:r>
              <a:rPr lang="en-US" dirty="0"/>
              <a:t>The system shall maintain consistent inventory data.</a:t>
            </a:r>
          </a:p>
          <a:p>
            <a:r>
              <a:rPr lang="en-US" dirty="0"/>
              <a:t>The system shall perform automatic database backups.</a:t>
            </a:r>
          </a:p>
          <a:p>
            <a:r>
              <a:rPr lang="en-US" dirty="0"/>
              <a:t>Security</a:t>
            </a:r>
          </a:p>
          <a:p>
            <a:r>
              <a:rPr lang="en-US" dirty="0"/>
              <a:t>The system shall require secure user authentication.</a:t>
            </a:r>
          </a:p>
          <a:p>
            <a:r>
              <a:rPr lang="en-US" dirty="0"/>
              <a:t>The system shall store encrypted user passwords.</a:t>
            </a:r>
          </a:p>
          <a:p>
            <a:r>
              <a:rPr lang="en-US" dirty="0"/>
              <a:t>The system shall restrict access based on user roles.</a:t>
            </a:r>
          </a:p>
          <a:p>
            <a:r>
              <a:rPr lang="en-US" dirty="0"/>
              <a:t>The system shall protect customer personal information.</a:t>
            </a:r>
          </a:p>
          <a:p>
            <a:r>
              <a:rPr lang="en-US" dirty="0"/>
              <a:t>Usability</a:t>
            </a:r>
          </a:p>
          <a:p>
            <a:r>
              <a:rPr lang="en-US" dirty="0"/>
              <a:t>The system shall provide a user-friendly interface.</a:t>
            </a:r>
          </a:p>
          <a:p>
            <a:r>
              <a:rPr lang="en-US" dirty="0"/>
              <a:t>The system shall allow simple navigation for users.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0DD0B59-71CB-7858-31A1-024F231AF64B}"/>
              </a:ext>
            </a:extLst>
          </p:cNvPr>
          <p:cNvSpPr txBox="1"/>
          <p:nvPr/>
        </p:nvSpPr>
        <p:spPr>
          <a:xfrm>
            <a:off x="6540231" y="1673157"/>
            <a:ext cx="4656306" cy="5047536"/>
          </a:xfrm>
          <a:prstGeom prst="rect">
            <a:avLst/>
          </a:prstGeom>
          <a:noFill/>
          <a:ln w="12700">
            <a:solidFill>
              <a:schemeClr val="tx1"/>
            </a:solidFill>
            <a:prstDash val="dash"/>
          </a:ln>
        </p:spPr>
        <p:txBody>
          <a:bodyPr wrap="square" rtlCol="0">
            <a:spAutoFit/>
          </a:bodyPr>
          <a:lstStyle/>
          <a:p>
            <a:pPr marL="228600" indent="-228600" defTabSz="914400">
              <a:lnSpc>
                <a:spcPct val="8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sz="15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The system shall provide clear booking confirmation messages.</a:t>
            </a:r>
          </a:p>
          <a:p>
            <a:pPr marL="228600" indent="-228600" defTabSz="914400">
              <a:lnSpc>
                <a:spcPct val="8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sz="15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Scalability</a:t>
            </a:r>
          </a:p>
          <a:p>
            <a:pPr marL="228600" indent="-228600" defTabSz="914400">
              <a:lnSpc>
                <a:spcPct val="8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sz="15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The system shall support future expansion of tour packages.</a:t>
            </a:r>
          </a:p>
          <a:p>
            <a:pPr marL="228600" indent="-228600" defTabSz="914400">
              <a:lnSpc>
                <a:spcPct val="8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sz="15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The system shall support increasing numbers of customers.</a:t>
            </a:r>
          </a:p>
          <a:p>
            <a:pPr marL="228600" indent="-228600" defTabSz="914400">
              <a:lnSpc>
                <a:spcPct val="8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sz="15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Compatibility</a:t>
            </a:r>
          </a:p>
          <a:p>
            <a:pPr marL="228600" indent="-228600" defTabSz="914400">
              <a:lnSpc>
                <a:spcPct val="8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sz="15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The system shall work on modern web browsers.</a:t>
            </a:r>
          </a:p>
          <a:p>
            <a:pPr marL="228600" indent="-228600" defTabSz="914400">
              <a:lnSpc>
                <a:spcPct val="8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sz="15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The system shall support mobile and desktop devices.</a:t>
            </a:r>
          </a:p>
          <a:p>
            <a:pPr marL="228600" indent="-228600" defTabSz="914400">
              <a:lnSpc>
                <a:spcPct val="8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sz="15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Maintainability</a:t>
            </a:r>
          </a:p>
          <a:p>
            <a:pPr marL="228600" indent="-228600" defTabSz="914400">
              <a:lnSpc>
                <a:spcPct val="8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sz="15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The system shall allow easy updates and maintenance.</a:t>
            </a:r>
          </a:p>
          <a:p>
            <a:pPr marL="228600" indent="-228600" defTabSz="914400">
              <a:lnSpc>
                <a:spcPct val="8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sz="15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The system shall include technical documentation for developers.</a:t>
            </a:r>
          </a:p>
          <a:p>
            <a:pPr marL="228600" indent="-228600" defTabSz="914400">
              <a:lnSpc>
                <a:spcPct val="8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sz="15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Availability</a:t>
            </a:r>
          </a:p>
          <a:p>
            <a:pPr marL="228600" indent="-228600" defTabSz="914400">
              <a:lnSpc>
                <a:spcPct val="8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sz="15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The system shall maintain high system uptime.</a:t>
            </a:r>
          </a:p>
          <a:p>
            <a:pPr marL="228600" indent="-228600" defTabSz="914400">
              <a:lnSpc>
                <a:spcPct val="8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sz="15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The system shall allow system recovery after failure.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0791143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87700F-7C0E-C40B-A1E9-089E687D53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ABCAEA-6C0C-27CF-F184-D4789E7F552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>
                <a:sym typeface="Wingdings" panose="05000000000000000000" pitchFamily="2" charset="2"/>
              </a:rPr>
              <a:t>Thank you 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49696820"/>
      </p:ext>
    </p:extLst>
  </p:cSld>
  <p:clrMapOvr>
    <a:masterClrMapping/>
  </p:clrMapOvr>
</p:sld>
</file>

<file path=ppt/theme/theme1.xml><?xml version="1.0" encoding="utf-8"?>
<a:theme xmlns:a="http://schemas.openxmlformats.org/drawingml/2006/main" name="Parcel">
  <a:themeElements>
    <a:clrScheme name="Parcel">
      <a:dk1>
        <a:srgbClr val="000000"/>
      </a:dk1>
      <a:lt1>
        <a:srgbClr val="FFFFFF"/>
      </a:lt1>
      <a:dk2>
        <a:srgbClr val="4A5356"/>
      </a:dk2>
      <a:lt2>
        <a:srgbClr val="E8E3CE"/>
      </a:lt2>
      <a:accent1>
        <a:srgbClr val="F6A21D"/>
      </a:accent1>
      <a:accent2>
        <a:srgbClr val="9BAFB5"/>
      </a:accent2>
      <a:accent3>
        <a:srgbClr val="C96731"/>
      </a:accent3>
      <a:accent4>
        <a:srgbClr val="9CA383"/>
      </a:accent4>
      <a:accent5>
        <a:srgbClr val="87795D"/>
      </a:accent5>
      <a:accent6>
        <a:srgbClr val="A0988C"/>
      </a:accent6>
      <a:hlink>
        <a:srgbClr val="00B0F0"/>
      </a:hlink>
      <a:folHlink>
        <a:srgbClr val="738F97"/>
      </a:folHlink>
    </a:clrScheme>
    <a:fontScheme name="Parcel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Parcel">
      <a:fillStyleLst>
        <a:solidFill>
          <a:schemeClr val="phClr"/>
        </a:solidFill>
        <a:gradFill rotWithShape="1">
          <a:gsLst>
            <a:gs pos="0">
              <a:schemeClr val="phClr">
                <a:tint val="80000"/>
                <a:satMod val="107000"/>
                <a:lumMod val="103000"/>
              </a:schemeClr>
            </a:gs>
            <a:gs pos="100000">
              <a:schemeClr val="phClr">
                <a:tint val="82000"/>
                <a:satMod val="109000"/>
                <a:lumMod val="103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7000"/>
                <a:satMod val="100000"/>
                <a:lumMod val="102000"/>
              </a:schemeClr>
            </a:gs>
            <a:gs pos="50000">
              <a:schemeClr val="phClr">
                <a:shade val="100000"/>
                <a:satMod val="103000"/>
                <a:lumMod val="100000"/>
              </a:schemeClr>
            </a:gs>
            <a:gs pos="100000">
              <a:schemeClr val="phClr">
                <a:shade val="93000"/>
                <a:satMod val="11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317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5880" dist="1524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prstMaterial="dkEdge">
            <a:bevelT w="0" h="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7000"/>
                <a:shade val="100000"/>
                <a:satMod val="185000"/>
                <a:lumMod val="120000"/>
              </a:schemeClr>
            </a:gs>
            <a:gs pos="100000">
              <a:schemeClr val="phClr">
                <a:tint val="96000"/>
                <a:shade val="95000"/>
                <a:satMod val="215000"/>
                <a:lumMod val="80000"/>
              </a:schemeClr>
            </a:gs>
          </a:gsLst>
          <a:path path="circle">
            <a:fillToRect l="50000" t="55000" r="125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arcel" id="{8BEC4385-4EB9-4D53-BFB5-0EA123736B6D}" vid="{4DB32801-28C0-48B0-8C1D-A9A58613615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TM10001115[[fn=Parcel]]</Template>
  <TotalTime>32</TotalTime>
  <Words>580</Words>
  <Application>Microsoft Office PowerPoint</Application>
  <PresentationFormat>Widescreen</PresentationFormat>
  <Paragraphs>116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Arial</vt:lpstr>
      <vt:lpstr>Gill Sans MT</vt:lpstr>
      <vt:lpstr>Wingdings</vt:lpstr>
      <vt:lpstr>Parcel</vt:lpstr>
      <vt:lpstr>TOURIST AGENCY </vt:lpstr>
      <vt:lpstr>Functional requirements</vt:lpstr>
      <vt:lpstr>Functional requirements</vt:lpstr>
      <vt:lpstr>Functional requirements</vt:lpstr>
      <vt:lpstr>NON-Functional requirements</vt:lpstr>
      <vt:lpstr>Thank you 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User</dc:creator>
  <cp:lastModifiedBy>User</cp:lastModifiedBy>
  <cp:revision>1</cp:revision>
  <dcterms:created xsi:type="dcterms:W3CDTF">2026-03-12T20:36:13Z</dcterms:created>
  <dcterms:modified xsi:type="dcterms:W3CDTF">2026-03-12T21:08:22Z</dcterms:modified>
</cp:coreProperties>
</file>