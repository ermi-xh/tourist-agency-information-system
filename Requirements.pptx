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24-Mar-26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3349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24-Mar-26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965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24-Mar-26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142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24-Mar-26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091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24-Mar-26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434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24-Mar-26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306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24-Mar-26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46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24-Mar-26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389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B3EFB35-67F9-4965-96BD-78D647E6C0F2}" type="datetimeFigureOut">
              <a:rPr lang="en-US" smtClean="0"/>
              <a:t>24-Mar-26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97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24-Mar-26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548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FB35-67F9-4965-96BD-78D647E6C0F2}" type="datetimeFigureOut">
              <a:rPr lang="en-US" smtClean="0"/>
              <a:t>24-Mar-26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684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B3EFB35-67F9-4965-96BD-78D647E6C0F2}" type="datetimeFigureOut">
              <a:rPr lang="en-US" smtClean="0"/>
              <a:t>24-Mar-26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BD4118A-213C-443C-AD69-42000585E95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24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45578-7EFC-F648-0110-A709325CB9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TOURIST AGENCY 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432FE9-B5D4-7732-E266-F637AB50C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645152"/>
            <a:ext cx="7315200" cy="914400"/>
          </a:xfrm>
        </p:spPr>
        <p:txBody>
          <a:bodyPr/>
          <a:lstStyle/>
          <a:p>
            <a:r>
              <a:rPr lang="en-US" dirty="0"/>
              <a:t>LIST OF FUNCTIONAL AND NON-FUNCTIONAL REQURIEMENTS</a:t>
            </a:r>
          </a:p>
        </p:txBody>
      </p:sp>
    </p:spTree>
    <p:extLst>
      <p:ext uri="{BB962C8B-B14F-4D97-AF65-F5344CB8AC3E}">
        <p14:creationId xmlns:p14="http://schemas.microsoft.com/office/powerpoint/2010/main" val="3491009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DE31B-C83F-008F-41D8-15BCE61F2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19B22-E935-FFE0-041C-1DA908F2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5934"/>
            <a:ext cx="7729728" cy="1188720"/>
          </a:xfrm>
        </p:spPr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42F632-CF80-606F-119D-A5FED49CD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753" y="1673157"/>
            <a:ext cx="5000018" cy="4844375"/>
          </a:xfrm>
          <a:ln>
            <a:solidFill>
              <a:schemeClr val="tx1"/>
            </a:solidFill>
            <a:prstDash val="dash"/>
          </a:ln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Guest user views available/ filters /searches  tour packages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Guest user creates a customer acc/logs in the account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Customer filters/searches tour packages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Customer views tour package details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Customer checks/books tour availability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Customer enters traveler information (names/surnames etc.)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Customer makes payment for booking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Costumer submits review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Customer receives booking confirmation/pays/downloads tickets and receipts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FE0368-5237-3876-3944-19370EE809E1}"/>
              </a:ext>
            </a:extLst>
          </p:cNvPr>
          <p:cNvSpPr txBox="1"/>
          <p:nvPr/>
        </p:nvSpPr>
        <p:spPr>
          <a:xfrm>
            <a:off x="6579143" y="1673157"/>
            <a:ext cx="5000017" cy="4304768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0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Customer views booking history</a:t>
            </a: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0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Customer cancels a booking</a:t>
            </a: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0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Customer updates personal profile</a:t>
            </a: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0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Booking agent creates bookings for customers</a:t>
            </a: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0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Booking agent updates reservation details/cancels reservations</a:t>
            </a: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0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Booking agent Booking agent checks travel package availability</a:t>
            </a: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0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Booking agent views customer travel history</a:t>
            </a: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0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Booking agent assists customers with booking modifications</a:t>
            </a: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0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Booking agent replies to reviews.</a:t>
            </a: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0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Finance agent verifies customer payments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914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5CBF-83F2-ACF0-384B-5148E4FB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95987-BB50-5F79-CBCC-AB2D37BAA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5934"/>
            <a:ext cx="7729728" cy="1188720"/>
          </a:xfrm>
        </p:spPr>
        <p:txBody>
          <a:bodyPr/>
          <a:lstStyle/>
          <a:p>
            <a:r>
              <a:rPr lang="en-US" dirty="0"/>
              <a:t>Functional requirements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4FDA98-DD42-129F-A18F-3A9296EB3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753" y="1673157"/>
            <a:ext cx="5000018" cy="4838248"/>
          </a:xfrm>
          <a:ln>
            <a:solidFill>
              <a:schemeClr val="tx1"/>
            </a:solidFill>
            <a:prstDash val="dash"/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sz="2500" dirty="0"/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Finance views declaration of monthly profits and expenses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Operations agent creates tour packages 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Operations agent updates tour package prices/availability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Administrator creates staff accounts/updates staff account permissions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Administrator deletes staff accounts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 Administrator configures system settings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en-US" sz="2600" dirty="0"/>
              <a:t> Administrator views sales reports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en-US" sz="2500" dirty="0"/>
              <a:t> Administrator finds and recruits bus drivers 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en-US" sz="2500" dirty="0"/>
              <a:t>Administrator marks bus for service 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en-US" sz="2500" dirty="0"/>
              <a:t> Administrator registers number of buses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112B7-61F4-C139-591D-1D5DA3631D00}"/>
              </a:ext>
            </a:extLst>
          </p:cNvPr>
          <p:cNvSpPr txBox="1"/>
          <p:nvPr/>
        </p:nvSpPr>
        <p:spPr>
          <a:xfrm>
            <a:off x="6540231" y="1673157"/>
            <a:ext cx="4656306" cy="394364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/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1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updates inventory after booking</a:t>
            </a: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1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shall allow users to specify special needs </a:t>
            </a: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1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generates PDF tickets and receipts</a:t>
            </a: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1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shows popular destinations </a:t>
            </a: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1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stores customer travel history</a:t>
            </a: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1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changes rating based on reviews </a:t>
            </a: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1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Tourist guide confirms client/ collects money</a:t>
            </a:r>
          </a:p>
          <a:p>
            <a:pPr marL="342900" indent="-3429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+mj-lt"/>
              <a:buAutoNum type="arabicPeriod" startAt="11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Tourist guide declares how much is collected 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4126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835CB-B2E3-AA6B-3F2B-02D0CFAA9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C1122-6828-A4B7-D4DC-FBEECF3FA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5934"/>
            <a:ext cx="7729728" cy="1188720"/>
          </a:xfrm>
        </p:spPr>
        <p:txBody>
          <a:bodyPr/>
          <a:lstStyle/>
          <a:p>
            <a:r>
              <a:rPr lang="en-US" dirty="0"/>
              <a:t>NON-Functional requirements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2BA3E7-F6B1-2740-5287-3C7E0E238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110" y="1673156"/>
            <a:ext cx="5000018" cy="5116750"/>
          </a:xfrm>
          <a:ln>
            <a:solidFill>
              <a:schemeClr val="tx1"/>
            </a:solidFill>
            <a:prstDash val="dash"/>
          </a:ln>
        </p:spPr>
        <p:txBody>
          <a:bodyPr>
            <a:normAutofit fontScale="77500" lnSpcReduction="20000"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Performance </a:t>
            </a:r>
          </a:p>
          <a:p>
            <a:r>
              <a:rPr lang="en-US" dirty="0"/>
              <a:t>The system shall load search results within 3 seconds.</a:t>
            </a:r>
          </a:p>
          <a:p>
            <a:r>
              <a:rPr lang="en-US" dirty="0"/>
              <a:t>The system shall process bookings within 5 seconds.</a:t>
            </a:r>
          </a:p>
          <a:p>
            <a:r>
              <a:rPr lang="en-US" dirty="0"/>
              <a:t>The system shall support multiple simultaneous users.</a:t>
            </a:r>
          </a:p>
          <a:p>
            <a:r>
              <a:rPr lang="en-US" b="1" u="sng" dirty="0">
                <a:solidFill>
                  <a:srgbClr val="FF0000"/>
                </a:solidFill>
              </a:rPr>
              <a:t>Reliability</a:t>
            </a:r>
          </a:p>
          <a:p>
            <a:r>
              <a:rPr lang="en-US" dirty="0"/>
              <a:t>The system shall maintain accurate booking information.</a:t>
            </a:r>
          </a:p>
          <a:p>
            <a:r>
              <a:rPr lang="en-US" dirty="0"/>
              <a:t>The system shall prevent double booking of services.</a:t>
            </a:r>
          </a:p>
          <a:p>
            <a:r>
              <a:rPr lang="en-US" dirty="0"/>
              <a:t>The system shall maintain consistent inventory data.</a:t>
            </a:r>
          </a:p>
          <a:p>
            <a:r>
              <a:rPr lang="en-US" dirty="0"/>
              <a:t>The system shall perform automatic database backups.</a:t>
            </a:r>
          </a:p>
          <a:p>
            <a:r>
              <a:rPr lang="en-US" b="1" u="sng" dirty="0">
                <a:solidFill>
                  <a:srgbClr val="FF0000"/>
                </a:solidFill>
              </a:rPr>
              <a:t>Security</a:t>
            </a:r>
          </a:p>
          <a:p>
            <a:r>
              <a:rPr lang="en-US" dirty="0"/>
              <a:t>The system shall require secure user authentication.</a:t>
            </a:r>
          </a:p>
          <a:p>
            <a:r>
              <a:rPr lang="en-US" dirty="0"/>
              <a:t>The system shall store encrypted user passwords.</a:t>
            </a:r>
          </a:p>
          <a:p>
            <a:r>
              <a:rPr lang="en-US" dirty="0"/>
              <a:t>The system shall restrict access based on user roles.</a:t>
            </a:r>
          </a:p>
          <a:p>
            <a:r>
              <a:rPr lang="en-US" dirty="0"/>
              <a:t>The system shall protect customer personal information.</a:t>
            </a:r>
          </a:p>
          <a:p>
            <a:r>
              <a:rPr lang="en-US" b="1" u="sng" dirty="0">
                <a:solidFill>
                  <a:srgbClr val="FF0000"/>
                </a:solidFill>
              </a:rPr>
              <a:t>Usability</a:t>
            </a:r>
          </a:p>
          <a:p>
            <a:r>
              <a:rPr lang="en-US" dirty="0"/>
              <a:t>The system shall provide a user-friendly interface.</a:t>
            </a:r>
          </a:p>
          <a:p>
            <a:r>
              <a:rPr lang="en-US" dirty="0"/>
              <a:t>The system shall allow simple navigation for users.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DD0B59-71CB-7858-31A1-024F231AF64B}"/>
              </a:ext>
            </a:extLst>
          </p:cNvPr>
          <p:cNvSpPr txBox="1"/>
          <p:nvPr/>
        </p:nvSpPr>
        <p:spPr>
          <a:xfrm>
            <a:off x="6540231" y="1673157"/>
            <a:ext cx="4656306" cy="5047536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provide clear booking confirmation messages.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b="1" u="sng" dirty="0">
                <a:solidFill>
                  <a:srgbClr val="FF0000"/>
                </a:solidFill>
              </a:rPr>
              <a:t>Scalability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support future expansion of tour packages.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support increasing numbers of customers.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b="1" u="sng" dirty="0">
                <a:solidFill>
                  <a:srgbClr val="FF0000"/>
                </a:solidFill>
              </a:rPr>
              <a:t>Compatibility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work on modern web browsers.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support mobile and desktop devices.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b="1" u="sng" dirty="0">
                <a:solidFill>
                  <a:srgbClr val="FF0000"/>
                </a:solidFill>
              </a:rPr>
              <a:t>Maintainability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allow easy updates and maintenance.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include technical documentation for developers.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b="1" u="sng" dirty="0">
                <a:solidFill>
                  <a:srgbClr val="FF0000"/>
                </a:solidFill>
              </a:rPr>
              <a:t>Availability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maintain high system uptime.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system shall allow system recovery after failure.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911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7700F-7C0E-C40B-A1E9-089E687D5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BCAEA-6C0C-27CF-F184-D4789E7F55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Thank you 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69682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TOURIST AGENCY</Template>
  <TotalTime>80</TotalTime>
  <Words>454</Words>
  <Application>Microsoft Office PowerPoint</Application>
  <PresentationFormat>Widescreen</PresentationFormat>
  <Paragraphs>75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Gill Sans MT</vt:lpstr>
      <vt:lpstr>Wingdings</vt:lpstr>
      <vt:lpstr>Parcel</vt:lpstr>
      <vt:lpstr>TOURIST AGENCY </vt:lpstr>
      <vt:lpstr>Functional requirements</vt:lpstr>
      <vt:lpstr>Functional requirements</vt:lpstr>
      <vt:lpstr>NON-Functional requirements</vt:lpstr>
      <vt:lpstr>Thank you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2026-03-24T18:54:46Z</dcterms:created>
  <dcterms:modified xsi:type="dcterms:W3CDTF">2026-03-24T21:06:56Z</dcterms:modified>
</cp:coreProperties>
</file>